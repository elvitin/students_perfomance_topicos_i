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Helvetica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jU6y73PFvS2HcZ2+p9+Wedv9Km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0B404F-0F35-4E15-A0EC-DE032685A665}">
  <a:tblStyle styleId="{A40B404F-0F35-4E15-A0EC-DE032685A66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11" Type="http://schemas.openxmlformats.org/officeDocument/2006/relationships/slide" Target="slides/slide4.xml"/><Relationship Id="rId33" Type="http://schemas.openxmlformats.org/officeDocument/2006/relationships/font" Target="fonts/HelveticaNeue-boldItalic.fntdata"/><Relationship Id="rId10" Type="http://schemas.openxmlformats.org/officeDocument/2006/relationships/slide" Target="slides/slide3.xml"/><Relationship Id="rId32" Type="http://schemas.openxmlformats.org/officeDocument/2006/relationships/font" Target="fonts/HelveticaNeue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439edd53b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d439edd53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6128f313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6128f313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6128f313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6128f313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128f313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6128f313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6128f313f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6128f313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6128f313f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6128f313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6128f313f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6128f313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6128f313f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6128f313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6128f313f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6128f313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6128f313f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6128f313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6128f313f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6128f313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6128f313f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6128f313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6128f313f_0_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6128f313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6128f313f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6128f313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6128f313f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6128f313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6128f313f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6128f313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6128f313f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6128f313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6128f313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6128f313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6128f313f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6128f313f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6128f313f_0_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6128f313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6128f313f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3d6128f313f_0_3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5"/>
          <p:cNvSpPr txBox="1"/>
          <p:nvPr>
            <p:ph type="title"/>
          </p:nvPr>
        </p:nvSpPr>
        <p:spPr>
          <a:xfrm>
            <a:off x="989856" y="1653648"/>
            <a:ext cx="7164288" cy="1836204"/>
          </a:xfrm>
          <a:prstGeom prst="rect">
            <a:avLst/>
          </a:prstGeom>
          <a:noFill/>
          <a:ln>
            <a:noFill/>
          </a:ln>
          <a:effectLst>
            <a:reflection blurRad="0" dir="5400000" dist="50800" endA="0" endPos="65000" kx="0" rotWithShape="0" algn="bl" stA="0" stPos="0" sy="-100000" ky="0"/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chamento">
  <p:cSld name="Fechamento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p8"/>
          <p:cNvSpPr txBox="1"/>
          <p:nvPr>
            <p:ph idx="1" type="body"/>
          </p:nvPr>
        </p:nvSpPr>
        <p:spPr>
          <a:xfrm>
            <a:off x="457200" y="1200151"/>
            <a:ext cx="8229600" cy="2883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9"/>
          <p:cNvSpPr txBox="1"/>
          <p:nvPr>
            <p:ph type="title"/>
          </p:nvPr>
        </p:nvSpPr>
        <p:spPr>
          <a:xfrm>
            <a:off x="722313" y="2616771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" type="body"/>
          </p:nvPr>
        </p:nvSpPr>
        <p:spPr>
          <a:xfrm>
            <a:off x="722313" y="1491630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94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94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457200" y="1200151"/>
            <a:ext cx="4038600" cy="2883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2" type="body"/>
          </p:nvPr>
        </p:nvSpPr>
        <p:spPr>
          <a:xfrm>
            <a:off x="4648200" y="1200151"/>
            <a:ext cx="4038600" cy="2883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457200" y="1631156"/>
            <a:ext cx="4040188" cy="2524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1" name="Google Shape;31;p11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2" name="Google Shape;32;p11"/>
          <p:cNvSpPr txBox="1"/>
          <p:nvPr>
            <p:ph idx="4" type="body"/>
          </p:nvPr>
        </p:nvSpPr>
        <p:spPr>
          <a:xfrm>
            <a:off x="4645026" y="1631156"/>
            <a:ext cx="4041775" cy="2524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3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3575050" y="204788"/>
            <a:ext cx="5111750" cy="39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457201" y="1076327"/>
            <a:ext cx="3008313" cy="3151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4" name="Google Shape;44;p1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1792288" y="4025503"/>
            <a:ext cx="5486400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de título">
  <p:cSld name="1_Slide de título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94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94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94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94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g3d6128f313f_0_3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d6128f313f_0_313"/>
          <p:cNvSpPr txBox="1"/>
          <p:nvPr>
            <p:ph type="title"/>
          </p:nvPr>
        </p:nvSpPr>
        <p:spPr>
          <a:xfrm>
            <a:off x="989856" y="1653648"/>
            <a:ext cx="7164300" cy="1836300"/>
          </a:xfrm>
          <a:prstGeom prst="rect">
            <a:avLst/>
          </a:prstGeom>
          <a:noFill/>
          <a:ln>
            <a:noFill/>
          </a:ln>
          <a:effectLst>
            <a:reflection blurRad="0" dir="5400000" dist="50800" endA="0" endPos="65000" fadeDir="5400012" kx="0" rotWithShape="0" algn="bl" stA="0" stPos="0" sy="-100000" ky="0"/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3d6128f313f_0_3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chamento">
  <p:cSld name="Fechamento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g3d6128f313f_0_3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g3d6128f313f_0_3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3d6128f313f_0_32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1" name="Google Shape;61;g3d6128f313f_0_320"/>
          <p:cNvSpPr txBox="1"/>
          <p:nvPr>
            <p:ph idx="1" type="body"/>
          </p:nvPr>
        </p:nvSpPr>
        <p:spPr>
          <a:xfrm>
            <a:off x="457200" y="1200151"/>
            <a:ext cx="8229600" cy="28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g3d6128f313f_0_3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d6128f313f_0_324"/>
          <p:cNvSpPr txBox="1"/>
          <p:nvPr>
            <p:ph type="title"/>
          </p:nvPr>
        </p:nvSpPr>
        <p:spPr>
          <a:xfrm>
            <a:off x="722313" y="2616771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5" name="Google Shape;65;g3d6128f313f_0_324"/>
          <p:cNvSpPr txBox="1"/>
          <p:nvPr>
            <p:ph idx="1" type="body"/>
          </p:nvPr>
        </p:nvSpPr>
        <p:spPr>
          <a:xfrm>
            <a:off x="722313" y="1491630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94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94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g3d6128f313f_0_3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d6128f313f_0_328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9" name="Google Shape;69;g3d6128f313f_0_328"/>
          <p:cNvSpPr txBox="1"/>
          <p:nvPr>
            <p:ph idx="1" type="body"/>
          </p:nvPr>
        </p:nvSpPr>
        <p:spPr>
          <a:xfrm>
            <a:off x="457200" y="1200151"/>
            <a:ext cx="4038600" cy="28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0" name="Google Shape;70;g3d6128f313f_0_328"/>
          <p:cNvSpPr txBox="1"/>
          <p:nvPr>
            <p:ph idx="2" type="body"/>
          </p:nvPr>
        </p:nvSpPr>
        <p:spPr>
          <a:xfrm>
            <a:off x="4648200" y="1200151"/>
            <a:ext cx="4038600" cy="28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g3d6128f313f_0_3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d6128f313f_0_333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4" name="Google Shape;74;g3d6128f313f_0_333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5" name="Google Shape;75;g3d6128f313f_0_333"/>
          <p:cNvSpPr txBox="1"/>
          <p:nvPr>
            <p:ph idx="2" type="body"/>
          </p:nvPr>
        </p:nvSpPr>
        <p:spPr>
          <a:xfrm>
            <a:off x="457200" y="1631156"/>
            <a:ext cx="4040100" cy="2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6" name="Google Shape;76;g3d6128f313f_0_333"/>
          <p:cNvSpPr txBox="1"/>
          <p:nvPr>
            <p:ph idx="3" type="body"/>
          </p:nvPr>
        </p:nvSpPr>
        <p:spPr>
          <a:xfrm>
            <a:off x="4645026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7" name="Google Shape;77;g3d6128f313f_0_333"/>
          <p:cNvSpPr txBox="1"/>
          <p:nvPr>
            <p:ph idx="4" type="body"/>
          </p:nvPr>
        </p:nvSpPr>
        <p:spPr>
          <a:xfrm>
            <a:off x="4645026" y="1631156"/>
            <a:ext cx="4041900" cy="2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3d6128f313f_0_3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d6128f313f_0_34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d6128f313f_0_3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d6128f313f_0_343"/>
          <p:cNvSpPr txBox="1"/>
          <p:nvPr>
            <p:ph type="title"/>
          </p:nvPr>
        </p:nvSpPr>
        <p:spPr>
          <a:xfrm>
            <a:off x="457201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4" name="Google Shape;84;g3d6128f313f_0_343"/>
          <p:cNvSpPr txBox="1"/>
          <p:nvPr>
            <p:ph idx="1" type="body"/>
          </p:nvPr>
        </p:nvSpPr>
        <p:spPr>
          <a:xfrm>
            <a:off x="3575050" y="204788"/>
            <a:ext cx="5111700" cy="3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5" name="Google Shape;85;g3d6128f313f_0_343"/>
          <p:cNvSpPr txBox="1"/>
          <p:nvPr>
            <p:ph idx="2" type="body"/>
          </p:nvPr>
        </p:nvSpPr>
        <p:spPr>
          <a:xfrm>
            <a:off x="457201" y="1076327"/>
            <a:ext cx="3008400" cy="3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3d6128f313f_0_3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d6128f313f_0_348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9" name="Google Shape;89;g3d6128f313f_0_348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g3d6128f313f_0_348"/>
          <p:cNvSpPr txBox="1"/>
          <p:nvPr>
            <p:ph idx="1" type="body"/>
          </p:nvPr>
        </p:nvSpPr>
        <p:spPr>
          <a:xfrm>
            <a:off x="1792288" y="4025503"/>
            <a:ext cx="5486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de título">
  <p:cSld name="1_Slide de título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d6128f313f_0_3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d6128f313f_0_353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94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94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94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94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4" name="Google Shape;94;g3d6128f313f_0_353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title"/>
          </p:nvPr>
        </p:nvSpPr>
        <p:spPr>
          <a:xfrm>
            <a:off x="990600" y="1653779"/>
            <a:ext cx="7162800" cy="1835944"/>
          </a:xfrm>
          <a:prstGeom prst="rect">
            <a:avLst/>
          </a:prstGeom>
          <a:noFill/>
          <a:ln>
            <a:noFill/>
          </a:ln>
          <a:effectLst>
            <a:reflection blurRad="0" dir="5400000" dist="50800" endA="0" endPos="65000" kx="0" rotWithShape="0" algn="bl" stA="0" stPos="0" sy="-100000" ky="0"/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Engenharia de Dados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3716338" y="4103688"/>
            <a:ext cx="171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99CC00"/>
                </a:solidFill>
                <a:latin typeface="Arial"/>
                <a:ea typeface="Arial"/>
                <a:cs typeface="Arial"/>
                <a:sym typeface="Arial"/>
              </a:rPr>
              <a:t>João Guelfi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99CC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439edd53b_0_81"/>
          <p:cNvSpPr txBox="1"/>
          <p:nvPr/>
        </p:nvSpPr>
        <p:spPr>
          <a:xfrm>
            <a:off x="3813150" y="0"/>
            <a:ext cx="1517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Problema Real</a:t>
            </a:r>
            <a:endParaRPr b="1"/>
          </a:p>
        </p:txBody>
      </p:sp>
      <p:sp>
        <p:nvSpPr>
          <p:cNvPr id="106" name="Google Shape;106;g3d439edd53b_0_81"/>
          <p:cNvSpPr txBox="1"/>
          <p:nvPr/>
        </p:nvSpPr>
        <p:spPr>
          <a:xfrm>
            <a:off x="964400" y="799925"/>
            <a:ext cx="7595700" cy="3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empresa possui diferentes fontes de dados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Venda di</a:t>
            </a:r>
            <a:r>
              <a:rPr lang="pt-BR"/>
              <a:t>ária</a:t>
            </a:r>
            <a:r>
              <a:rPr lang="pt-BR"/>
              <a:t> (arquivo csv)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Clientes (Banco de dados relacional)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</a:t>
            </a:r>
            <a:r>
              <a:rPr lang="pt-BR"/>
              <a:t>ólar (API externa)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Seus executivos querem desenvolver </a:t>
            </a:r>
            <a:r>
              <a:rPr b="1" lang="pt-BR"/>
              <a:t>Dashboards</a:t>
            </a:r>
            <a:r>
              <a:rPr lang="pt-BR"/>
              <a:t> criar um </a:t>
            </a:r>
            <a:r>
              <a:rPr b="1" lang="pt-BR"/>
              <a:t>modelo de IA</a:t>
            </a:r>
            <a:r>
              <a:rPr lang="pt-BR"/>
              <a:t> para prever a demanda do próximo mês.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Problemas encontrados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Dados espalhados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Dados inconsistentes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Atualização manual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sem governança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6128f313f_0_2"/>
          <p:cNvSpPr txBox="1"/>
          <p:nvPr/>
        </p:nvSpPr>
        <p:spPr>
          <a:xfrm>
            <a:off x="4205700" y="0"/>
            <a:ext cx="7326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Stack</a:t>
            </a:r>
            <a:endParaRPr b="1"/>
          </a:p>
        </p:txBody>
      </p:sp>
      <p:sp>
        <p:nvSpPr>
          <p:cNvPr id="112" name="Google Shape;112;g3d6128f313f_0_2"/>
          <p:cNvSpPr txBox="1"/>
          <p:nvPr/>
        </p:nvSpPr>
        <p:spPr>
          <a:xfrm>
            <a:off x="5562175" y="441000"/>
            <a:ext cx="3513600" cy="4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200"/>
              <a:t>Orquestração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Apache Airflow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Databricks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200"/>
              <a:t>Modelagem e transformação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dbt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SQL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Python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200"/>
              <a:t>Visualização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Power BI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Qliksense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200"/>
              <a:t>Versionamento e DevOps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Github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Gitlab</a:t>
            </a:r>
            <a:endParaRPr sz="1200"/>
          </a:p>
        </p:txBody>
      </p:sp>
      <p:sp>
        <p:nvSpPr>
          <p:cNvPr id="113" name="Google Shape;113;g3d6128f313f_0_2"/>
          <p:cNvSpPr txBox="1"/>
          <p:nvPr/>
        </p:nvSpPr>
        <p:spPr>
          <a:xfrm>
            <a:off x="649125" y="86325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200"/>
              <a:t>Linguagens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Python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SQL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200"/>
              <a:t>Armazenamento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PostgreSQL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DuckDB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Amazon S3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Azure Data Lake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200"/>
              <a:t>Processamento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Apache Spark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Pandas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6128f313f_0_11"/>
          <p:cNvSpPr txBox="1"/>
          <p:nvPr/>
        </p:nvSpPr>
        <p:spPr>
          <a:xfrm>
            <a:off x="3730950" y="0"/>
            <a:ext cx="16821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Fato X Dimens</a:t>
            </a:r>
            <a:r>
              <a:rPr b="1" lang="pt-BR"/>
              <a:t>ão</a:t>
            </a:r>
            <a:endParaRPr b="1"/>
          </a:p>
        </p:txBody>
      </p:sp>
      <p:sp>
        <p:nvSpPr>
          <p:cNvPr id="119" name="Google Shape;119;g3d6128f313f_0_11"/>
          <p:cNvSpPr txBox="1"/>
          <p:nvPr/>
        </p:nvSpPr>
        <p:spPr>
          <a:xfrm>
            <a:off x="730950" y="463500"/>
            <a:ext cx="3000000" cy="25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/>
              <a:t>Tabela Fato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Tabela que representa </a:t>
            </a:r>
            <a:r>
              <a:rPr lang="pt-BR" sz="1100"/>
              <a:t>eventos do negócio. </a:t>
            </a:r>
            <a:r>
              <a:rPr lang="pt-BR" sz="1100"/>
              <a:t>Contém métricas (valores numéricos) e cresce rapidamente possuindo chaves estrangeiras.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Nomenclatura com prefixo fat.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graphicFrame>
        <p:nvGraphicFramePr>
          <p:cNvPr id="120" name="Google Shape;120;g3d6128f313f_0_11"/>
          <p:cNvGraphicFramePr/>
          <p:nvPr/>
        </p:nvGraphicFramePr>
        <p:xfrm>
          <a:off x="437500" y="277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896725"/>
                <a:gridCol w="896725"/>
                <a:gridCol w="896725"/>
                <a:gridCol w="8967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data_id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cliente_id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produto_id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valor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150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g3d6128f313f_0_11"/>
          <p:cNvSpPr txBox="1"/>
          <p:nvPr/>
        </p:nvSpPr>
        <p:spPr>
          <a:xfrm>
            <a:off x="5413050" y="463500"/>
            <a:ext cx="3000000" cy="19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/>
              <a:t>Tabela Dimensão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Tabela que descreve o contexto dos fatos.</a:t>
            </a:r>
            <a:r>
              <a:rPr b="1" lang="pt-BR" sz="1700"/>
              <a:t> </a:t>
            </a:r>
            <a:r>
              <a:rPr lang="pt-BR" sz="1100"/>
              <a:t>Dados s</a:t>
            </a:r>
            <a:r>
              <a:rPr lang="pt-BR" sz="1100"/>
              <a:t>ão</a:t>
            </a:r>
            <a:r>
              <a:rPr lang="pt-BR" sz="1100"/>
              <a:t> descritivos e t</a:t>
            </a:r>
            <a:r>
              <a:rPr lang="pt-BR" sz="1100"/>
              <a:t>êm b</a:t>
            </a:r>
            <a:r>
              <a:rPr lang="pt-BR" sz="1100"/>
              <a:t>aixa volumetria, usada para filtros e agrupamentos.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/>
              <a:t>Nomenclatura com prefixo dim.</a:t>
            </a:r>
            <a:endParaRPr sz="1100"/>
          </a:p>
        </p:txBody>
      </p:sp>
      <p:graphicFrame>
        <p:nvGraphicFramePr>
          <p:cNvPr id="122" name="Google Shape;122;g3d6128f313f_0_11"/>
          <p:cNvGraphicFramePr/>
          <p:nvPr/>
        </p:nvGraphicFramePr>
        <p:xfrm>
          <a:off x="5174550" y="277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809625"/>
                <a:gridCol w="809625"/>
                <a:gridCol w="809625"/>
                <a:gridCol w="8096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cliente_id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nome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cidade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idade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João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SP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Maria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RJ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g3d6128f313f_0_11"/>
          <p:cNvSpPr txBox="1"/>
          <p:nvPr/>
        </p:nvSpPr>
        <p:spPr>
          <a:xfrm>
            <a:off x="1712000" y="2417650"/>
            <a:ext cx="1278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fat_vendas</a:t>
            </a:r>
            <a:endParaRPr b="1"/>
          </a:p>
        </p:txBody>
      </p:sp>
      <p:sp>
        <p:nvSpPr>
          <p:cNvPr id="124" name="Google Shape;124;g3d6128f313f_0_11"/>
          <p:cNvSpPr txBox="1"/>
          <p:nvPr/>
        </p:nvSpPr>
        <p:spPr>
          <a:xfrm>
            <a:off x="6154650" y="2394600"/>
            <a:ext cx="1278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dim_cliente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6128f313f_0_36"/>
          <p:cNvSpPr txBox="1"/>
          <p:nvPr/>
        </p:nvSpPr>
        <p:spPr>
          <a:xfrm>
            <a:off x="3499200" y="0"/>
            <a:ext cx="20181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  <p:pic>
        <p:nvPicPr>
          <p:cNvPr id="130" name="Google Shape;130;g3d6128f313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8700"/>
            <a:ext cx="8839200" cy="338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6128f313f_0_41"/>
          <p:cNvSpPr txBox="1"/>
          <p:nvPr/>
        </p:nvSpPr>
        <p:spPr>
          <a:xfrm>
            <a:off x="3499200" y="0"/>
            <a:ext cx="20181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  <p:pic>
        <p:nvPicPr>
          <p:cNvPr id="136" name="Google Shape;136;g3d6128f313f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8700"/>
            <a:ext cx="8839200" cy="33820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g3d6128f313f_0_41"/>
          <p:cNvCxnSpPr/>
          <p:nvPr/>
        </p:nvCxnSpPr>
        <p:spPr>
          <a:xfrm>
            <a:off x="2668950" y="3446450"/>
            <a:ext cx="0" cy="329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g3d6128f313f_0_41"/>
          <p:cNvSpPr txBox="1"/>
          <p:nvPr/>
        </p:nvSpPr>
        <p:spPr>
          <a:xfrm>
            <a:off x="1308300" y="3775550"/>
            <a:ext cx="2841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Dados </a:t>
            </a:r>
            <a:r>
              <a:rPr b="1" lang="pt-BR" sz="1100"/>
              <a:t>brutos</a:t>
            </a:r>
            <a:r>
              <a:rPr lang="pt-BR" sz="1100"/>
              <a:t>, exatamente como chegam.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Sem tratamento, pode conter erros e alta volumetria.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6128f313f_0_51"/>
          <p:cNvSpPr txBox="1"/>
          <p:nvPr/>
        </p:nvSpPr>
        <p:spPr>
          <a:xfrm>
            <a:off x="3499200" y="0"/>
            <a:ext cx="20181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  <p:pic>
        <p:nvPicPr>
          <p:cNvPr id="144" name="Google Shape;144;g3d6128f313f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8700"/>
            <a:ext cx="8839200" cy="33820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g3d6128f313f_0_51"/>
          <p:cNvCxnSpPr/>
          <p:nvPr/>
        </p:nvCxnSpPr>
        <p:spPr>
          <a:xfrm>
            <a:off x="4508250" y="3446450"/>
            <a:ext cx="0" cy="329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g3d6128f313f_0_51"/>
          <p:cNvSpPr txBox="1"/>
          <p:nvPr/>
        </p:nvSpPr>
        <p:spPr>
          <a:xfrm>
            <a:off x="3008250" y="38426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Dados </a:t>
            </a:r>
            <a:r>
              <a:rPr b="1" lang="pt-BR" sz="1100"/>
              <a:t>limpos e padronizados</a:t>
            </a:r>
            <a:r>
              <a:rPr lang="pt-BR" sz="1100"/>
              <a:t>. Com remoção de inconsistências, tratamento de nulos, tipagem correta e deduplicação.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128f313f_0_62"/>
          <p:cNvSpPr txBox="1"/>
          <p:nvPr/>
        </p:nvSpPr>
        <p:spPr>
          <a:xfrm>
            <a:off x="3499200" y="0"/>
            <a:ext cx="20181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  <p:pic>
        <p:nvPicPr>
          <p:cNvPr id="152" name="Google Shape;152;g3d6128f313f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8700"/>
            <a:ext cx="8839200" cy="33820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g3d6128f313f_0_62"/>
          <p:cNvCxnSpPr/>
          <p:nvPr/>
        </p:nvCxnSpPr>
        <p:spPr>
          <a:xfrm>
            <a:off x="6691250" y="3409075"/>
            <a:ext cx="0" cy="329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g3d6128f313f_0_62"/>
          <p:cNvSpPr txBox="1"/>
          <p:nvPr/>
        </p:nvSpPr>
        <p:spPr>
          <a:xfrm>
            <a:off x="5191250" y="379035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</a:t>
            </a:r>
            <a:r>
              <a:rPr b="1" lang="pt-BR"/>
              <a:t>prontos</a:t>
            </a:r>
            <a:r>
              <a:rPr lang="pt-BR"/>
              <a:t> para negócio. Agregações, KPIs e modelagem dimensional (fato/dimensão)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6128f313f_0_73"/>
          <p:cNvSpPr txBox="1"/>
          <p:nvPr/>
        </p:nvSpPr>
        <p:spPr>
          <a:xfrm>
            <a:off x="3939598" y="471225"/>
            <a:ext cx="1137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vendas.csv</a:t>
            </a:r>
            <a:endParaRPr/>
          </a:p>
        </p:txBody>
      </p:sp>
      <p:graphicFrame>
        <p:nvGraphicFramePr>
          <p:cNvPr id="160" name="Google Shape;160;g3d6128f313f_0_73"/>
          <p:cNvGraphicFramePr/>
          <p:nvPr/>
        </p:nvGraphicFramePr>
        <p:xfrm>
          <a:off x="1645700" y="86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  <a:gridCol w="939225"/>
                <a:gridCol w="939225"/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order_id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data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nome_cliente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-50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Maria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175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g3d6128f313f_0_73"/>
          <p:cNvSpPr txBox="1"/>
          <p:nvPr/>
        </p:nvSpPr>
        <p:spPr>
          <a:xfrm>
            <a:off x="3977875" y="2359875"/>
            <a:ext cx="12630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produtos.csv</a:t>
            </a:r>
            <a:endParaRPr/>
          </a:p>
        </p:txBody>
      </p:sp>
      <p:graphicFrame>
        <p:nvGraphicFramePr>
          <p:cNvPr id="162" name="Google Shape;162;g3d6128f313f_0_73"/>
          <p:cNvGraphicFramePr/>
          <p:nvPr/>
        </p:nvGraphicFramePr>
        <p:xfrm>
          <a:off x="3527850" y="268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1021450"/>
                <a:gridCol w="1141600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produto_nome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g3d6128f313f_0_73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6128f313f_0_88"/>
          <p:cNvSpPr txBox="1"/>
          <p:nvPr/>
        </p:nvSpPr>
        <p:spPr>
          <a:xfrm>
            <a:off x="3939598" y="471225"/>
            <a:ext cx="1137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vendas.csv</a:t>
            </a:r>
            <a:endParaRPr/>
          </a:p>
        </p:txBody>
      </p:sp>
      <p:graphicFrame>
        <p:nvGraphicFramePr>
          <p:cNvPr id="169" name="Google Shape;169;g3d6128f313f_0_88"/>
          <p:cNvGraphicFramePr/>
          <p:nvPr/>
        </p:nvGraphicFramePr>
        <p:xfrm>
          <a:off x="1645700" y="86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  <a:gridCol w="939225"/>
                <a:gridCol w="939225"/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order_id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data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nome_cliente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-50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Maria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175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0" name="Google Shape;170;g3d6128f313f_0_88"/>
          <p:cNvCxnSpPr/>
          <p:nvPr/>
        </p:nvCxnSpPr>
        <p:spPr>
          <a:xfrm>
            <a:off x="4478125" y="2384850"/>
            <a:ext cx="0" cy="381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g3d6128f313f_0_88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6128f313f_0_97"/>
          <p:cNvSpPr txBox="1"/>
          <p:nvPr/>
        </p:nvSpPr>
        <p:spPr>
          <a:xfrm>
            <a:off x="3939598" y="471225"/>
            <a:ext cx="1137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vendas.csv</a:t>
            </a:r>
            <a:endParaRPr/>
          </a:p>
        </p:txBody>
      </p:sp>
      <p:graphicFrame>
        <p:nvGraphicFramePr>
          <p:cNvPr id="177" name="Google Shape;177;g3d6128f313f_0_97"/>
          <p:cNvGraphicFramePr/>
          <p:nvPr/>
        </p:nvGraphicFramePr>
        <p:xfrm>
          <a:off x="1645700" y="86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  <a:gridCol w="939225"/>
                <a:gridCol w="939225"/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order_id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data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nome_cliente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-50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Maria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175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78" name="Google Shape;178;g3d6128f313f_0_97"/>
          <p:cNvCxnSpPr/>
          <p:nvPr/>
        </p:nvCxnSpPr>
        <p:spPr>
          <a:xfrm>
            <a:off x="4478125" y="2384850"/>
            <a:ext cx="0" cy="381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79" name="Google Shape;179;g3d6128f313f_0_97"/>
          <p:cNvGraphicFramePr/>
          <p:nvPr/>
        </p:nvGraphicFramePr>
        <p:xfrm>
          <a:off x="1645700" y="286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  <a:gridCol w="939225"/>
                <a:gridCol w="939225"/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order_id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data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nome_cliente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-50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Maria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175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g3d6128f313f_0_97"/>
          <p:cNvSpPr txBox="1"/>
          <p:nvPr/>
        </p:nvSpPr>
        <p:spPr>
          <a:xfrm>
            <a:off x="3818101" y="4383150"/>
            <a:ext cx="15078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vendas - Bronze</a:t>
            </a:r>
            <a:endParaRPr/>
          </a:p>
        </p:txBody>
      </p:sp>
      <p:sp>
        <p:nvSpPr>
          <p:cNvPr id="181" name="Google Shape;181;g3d6128f313f_0_97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6128f313f_0_122"/>
          <p:cNvSpPr txBox="1"/>
          <p:nvPr/>
        </p:nvSpPr>
        <p:spPr>
          <a:xfrm>
            <a:off x="3939600" y="471225"/>
            <a:ext cx="1615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vendas - Bronze</a:t>
            </a:r>
            <a:endParaRPr/>
          </a:p>
        </p:txBody>
      </p:sp>
      <p:graphicFrame>
        <p:nvGraphicFramePr>
          <p:cNvPr id="187" name="Google Shape;187;g3d6128f313f_0_122"/>
          <p:cNvGraphicFramePr/>
          <p:nvPr/>
        </p:nvGraphicFramePr>
        <p:xfrm>
          <a:off x="1645700" y="86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  <a:gridCol w="939225"/>
                <a:gridCol w="939225"/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order_id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data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nome_cliente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-50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Maria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175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88" name="Google Shape;188;g3d6128f313f_0_122"/>
          <p:cNvCxnSpPr/>
          <p:nvPr/>
        </p:nvCxnSpPr>
        <p:spPr>
          <a:xfrm>
            <a:off x="4478125" y="2384850"/>
            <a:ext cx="0" cy="381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g3d6128f313f_0_122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6128f313f_0_173"/>
          <p:cNvSpPr txBox="1"/>
          <p:nvPr/>
        </p:nvSpPr>
        <p:spPr>
          <a:xfrm>
            <a:off x="3939600" y="471225"/>
            <a:ext cx="1615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vendas - Bronze</a:t>
            </a:r>
            <a:endParaRPr/>
          </a:p>
        </p:txBody>
      </p:sp>
      <p:graphicFrame>
        <p:nvGraphicFramePr>
          <p:cNvPr id="195" name="Google Shape;195;g3d6128f313f_0_173"/>
          <p:cNvGraphicFramePr/>
          <p:nvPr/>
        </p:nvGraphicFramePr>
        <p:xfrm>
          <a:off x="1645700" y="86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  <a:gridCol w="939225"/>
                <a:gridCol w="939225"/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order_id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data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nome_cliente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-50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Maria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175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96" name="Google Shape;196;g3d6128f313f_0_173"/>
          <p:cNvCxnSpPr/>
          <p:nvPr/>
        </p:nvCxnSpPr>
        <p:spPr>
          <a:xfrm>
            <a:off x="4478125" y="2384850"/>
            <a:ext cx="0" cy="381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7" name="Google Shape;197;g3d6128f313f_0_173"/>
          <p:cNvGraphicFramePr/>
          <p:nvPr/>
        </p:nvGraphicFramePr>
        <p:xfrm>
          <a:off x="1754325" y="282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  <a:gridCol w="939225"/>
                <a:gridCol w="939225"/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order_id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data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nome_cliente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175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g3d6128f313f_0_173"/>
          <p:cNvSpPr txBox="1"/>
          <p:nvPr/>
        </p:nvSpPr>
        <p:spPr>
          <a:xfrm>
            <a:off x="3764400" y="4077550"/>
            <a:ext cx="1615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vendas - Silver</a:t>
            </a:r>
            <a:endParaRPr/>
          </a:p>
        </p:txBody>
      </p:sp>
      <p:sp>
        <p:nvSpPr>
          <p:cNvPr id="199" name="Google Shape;199;g3d6128f313f_0_173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6128f313f_0_200"/>
          <p:cNvSpPr txBox="1"/>
          <p:nvPr/>
        </p:nvSpPr>
        <p:spPr>
          <a:xfrm>
            <a:off x="3939600" y="471225"/>
            <a:ext cx="1615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vendas - Silver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" name="Google Shape;205;g3d6128f313f_0_200"/>
          <p:cNvCxnSpPr/>
          <p:nvPr/>
        </p:nvCxnSpPr>
        <p:spPr>
          <a:xfrm>
            <a:off x="4478125" y="2384850"/>
            <a:ext cx="0" cy="381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06" name="Google Shape;206;g3d6128f313f_0_200"/>
          <p:cNvGraphicFramePr/>
          <p:nvPr/>
        </p:nvGraphicFramePr>
        <p:xfrm>
          <a:off x="1660450" y="85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  <a:gridCol w="939225"/>
                <a:gridCol w="939225"/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order_id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data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nome_cliente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175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g3d6128f313f_0_200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6128f313f_0_209"/>
          <p:cNvSpPr txBox="1"/>
          <p:nvPr/>
        </p:nvSpPr>
        <p:spPr>
          <a:xfrm>
            <a:off x="3939600" y="471225"/>
            <a:ext cx="1615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vendas - Silver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g3d6128f313f_0_209"/>
          <p:cNvCxnSpPr/>
          <p:nvPr/>
        </p:nvCxnSpPr>
        <p:spPr>
          <a:xfrm>
            <a:off x="4478125" y="1989309"/>
            <a:ext cx="0" cy="381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14" name="Google Shape;214;g3d6128f313f_0_209"/>
          <p:cNvGraphicFramePr/>
          <p:nvPr/>
        </p:nvGraphicFramePr>
        <p:xfrm>
          <a:off x="1660450" y="85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  <a:gridCol w="939225"/>
                <a:gridCol w="939225"/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order_id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data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nome_cliente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175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" name="Google Shape;215;g3d6128f313f_0_209"/>
          <p:cNvGraphicFramePr/>
          <p:nvPr/>
        </p:nvGraphicFramePr>
        <p:xfrm>
          <a:off x="391375" y="293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  <a:gridCol w="939225"/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order_id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data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valor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2026-01-01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175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g3d6128f313f_0_209"/>
          <p:cNvSpPr txBox="1"/>
          <p:nvPr/>
        </p:nvSpPr>
        <p:spPr>
          <a:xfrm>
            <a:off x="1894075" y="2571750"/>
            <a:ext cx="1799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fat_vendas - Gold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6128f313f_0_209"/>
          <p:cNvSpPr txBox="1"/>
          <p:nvPr/>
        </p:nvSpPr>
        <p:spPr>
          <a:xfrm>
            <a:off x="6599375" y="2571750"/>
            <a:ext cx="1799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dim_cliente - Gold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8" name="Google Shape;218;g3d6128f313f_0_209"/>
          <p:cNvGraphicFramePr/>
          <p:nvPr/>
        </p:nvGraphicFramePr>
        <p:xfrm>
          <a:off x="6559700" y="311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39225"/>
                <a:gridCol w="939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cliente_id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nome_cliente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Pedro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g3d6128f313f_0_209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6128f313f_0_105"/>
          <p:cNvSpPr txBox="1"/>
          <p:nvPr/>
        </p:nvSpPr>
        <p:spPr>
          <a:xfrm>
            <a:off x="2167850" y="717925"/>
            <a:ext cx="1346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produtos.csv</a:t>
            </a:r>
            <a:endParaRPr/>
          </a:p>
        </p:txBody>
      </p:sp>
      <p:cxnSp>
        <p:nvCxnSpPr>
          <p:cNvPr id="225" name="Google Shape;225;g3d6128f313f_0_105"/>
          <p:cNvCxnSpPr/>
          <p:nvPr/>
        </p:nvCxnSpPr>
        <p:spPr>
          <a:xfrm>
            <a:off x="3939600" y="2115725"/>
            <a:ext cx="10842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26" name="Google Shape;226;g3d6128f313f_0_105"/>
          <p:cNvGraphicFramePr/>
          <p:nvPr/>
        </p:nvGraphicFramePr>
        <p:xfrm>
          <a:off x="1983650" y="112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809625"/>
                <a:gridCol w="90487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produto_nome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g3d6128f313f_0_105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6128f313f_0_146"/>
          <p:cNvSpPr txBox="1"/>
          <p:nvPr/>
        </p:nvSpPr>
        <p:spPr>
          <a:xfrm>
            <a:off x="2167850" y="717925"/>
            <a:ext cx="1346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produtos.csv</a:t>
            </a:r>
            <a:endParaRPr/>
          </a:p>
        </p:txBody>
      </p:sp>
      <p:cxnSp>
        <p:nvCxnSpPr>
          <p:cNvPr id="233" name="Google Shape;233;g3d6128f313f_0_146"/>
          <p:cNvCxnSpPr/>
          <p:nvPr/>
        </p:nvCxnSpPr>
        <p:spPr>
          <a:xfrm>
            <a:off x="3939600" y="2115725"/>
            <a:ext cx="10842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34" name="Google Shape;234;g3d6128f313f_0_146"/>
          <p:cNvGraphicFramePr/>
          <p:nvPr/>
        </p:nvGraphicFramePr>
        <p:xfrm>
          <a:off x="1983650" y="112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809625"/>
                <a:gridCol w="90487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produto_nome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5" name="Google Shape;235;g3d6128f313f_0_146"/>
          <p:cNvGraphicFramePr/>
          <p:nvPr/>
        </p:nvGraphicFramePr>
        <p:xfrm>
          <a:off x="5567900" y="112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809625"/>
                <a:gridCol w="90487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produto_nome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g3d6128f313f_0_146"/>
          <p:cNvSpPr txBox="1"/>
          <p:nvPr/>
        </p:nvSpPr>
        <p:spPr>
          <a:xfrm>
            <a:off x="5567900" y="717925"/>
            <a:ext cx="1751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produtos - Bronze</a:t>
            </a:r>
            <a:endParaRPr/>
          </a:p>
        </p:txBody>
      </p:sp>
      <p:sp>
        <p:nvSpPr>
          <p:cNvPr id="237" name="Google Shape;237;g3d6128f313f_0_146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6128f313f_0_164"/>
          <p:cNvSpPr txBox="1"/>
          <p:nvPr/>
        </p:nvSpPr>
        <p:spPr>
          <a:xfrm>
            <a:off x="1983650" y="717925"/>
            <a:ext cx="17145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produtos - Bronze</a:t>
            </a:r>
            <a:endParaRPr/>
          </a:p>
        </p:txBody>
      </p:sp>
      <p:cxnSp>
        <p:nvCxnSpPr>
          <p:cNvPr id="243" name="Google Shape;243;g3d6128f313f_0_164"/>
          <p:cNvCxnSpPr/>
          <p:nvPr/>
        </p:nvCxnSpPr>
        <p:spPr>
          <a:xfrm>
            <a:off x="3939600" y="2115725"/>
            <a:ext cx="10842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44" name="Google Shape;244;g3d6128f313f_0_164"/>
          <p:cNvGraphicFramePr/>
          <p:nvPr/>
        </p:nvGraphicFramePr>
        <p:xfrm>
          <a:off x="1983650" y="112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809625"/>
                <a:gridCol w="90487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produto_nome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g3d6128f313f_0_164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6128f313f_0_182"/>
          <p:cNvSpPr txBox="1"/>
          <p:nvPr/>
        </p:nvSpPr>
        <p:spPr>
          <a:xfrm>
            <a:off x="1983650" y="717925"/>
            <a:ext cx="17145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produtos - Bronze</a:t>
            </a:r>
            <a:endParaRPr/>
          </a:p>
        </p:txBody>
      </p:sp>
      <p:cxnSp>
        <p:nvCxnSpPr>
          <p:cNvPr id="251" name="Google Shape;251;g3d6128f313f_0_182"/>
          <p:cNvCxnSpPr/>
          <p:nvPr/>
        </p:nvCxnSpPr>
        <p:spPr>
          <a:xfrm>
            <a:off x="3939600" y="2115725"/>
            <a:ext cx="10842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52" name="Google Shape;252;g3d6128f313f_0_182"/>
          <p:cNvGraphicFramePr/>
          <p:nvPr/>
        </p:nvGraphicFramePr>
        <p:xfrm>
          <a:off x="1983650" y="112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809625"/>
                <a:gridCol w="90487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produto_nome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3" name="Google Shape;253;g3d6128f313f_0_182"/>
          <p:cNvGraphicFramePr/>
          <p:nvPr/>
        </p:nvGraphicFramePr>
        <p:xfrm>
          <a:off x="5567900" y="112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809625"/>
                <a:gridCol w="1547800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produto_nome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105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g3d6128f313f_0_182"/>
          <p:cNvSpPr txBox="1"/>
          <p:nvPr/>
        </p:nvSpPr>
        <p:spPr>
          <a:xfrm>
            <a:off x="5567900" y="717925"/>
            <a:ext cx="1751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produtos - Silver</a:t>
            </a:r>
            <a:endParaRPr/>
          </a:p>
        </p:txBody>
      </p:sp>
      <p:sp>
        <p:nvSpPr>
          <p:cNvPr id="255" name="Google Shape;255;g3d6128f313f_0_182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6128f313f_0_229"/>
          <p:cNvSpPr txBox="1"/>
          <p:nvPr/>
        </p:nvSpPr>
        <p:spPr>
          <a:xfrm>
            <a:off x="1983650" y="717925"/>
            <a:ext cx="17145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produtos - Silver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g3d6128f313f_0_229"/>
          <p:cNvCxnSpPr/>
          <p:nvPr/>
        </p:nvCxnSpPr>
        <p:spPr>
          <a:xfrm>
            <a:off x="3939600" y="2115725"/>
            <a:ext cx="10842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62" name="Google Shape;262;g3d6128f313f_0_229"/>
          <p:cNvGraphicFramePr/>
          <p:nvPr/>
        </p:nvGraphicFramePr>
        <p:xfrm>
          <a:off x="1862925" y="111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23650"/>
                <a:gridCol w="1032300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produto_nome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105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g3d6128f313f_0_229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6128f313f_0_239"/>
          <p:cNvSpPr txBox="1"/>
          <p:nvPr/>
        </p:nvSpPr>
        <p:spPr>
          <a:xfrm>
            <a:off x="3527850" y="0"/>
            <a:ext cx="2088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Medalhão</a:t>
            </a:r>
            <a:endParaRPr b="1"/>
          </a:p>
        </p:txBody>
      </p:sp>
      <p:sp>
        <p:nvSpPr>
          <p:cNvPr id="269" name="Google Shape;269;g3d6128f313f_0_239"/>
          <p:cNvSpPr txBox="1"/>
          <p:nvPr/>
        </p:nvSpPr>
        <p:spPr>
          <a:xfrm>
            <a:off x="1983650" y="717925"/>
            <a:ext cx="17145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produtos - Silver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" name="Google Shape;270;g3d6128f313f_0_239"/>
          <p:cNvCxnSpPr/>
          <p:nvPr/>
        </p:nvCxnSpPr>
        <p:spPr>
          <a:xfrm>
            <a:off x="3939600" y="2115725"/>
            <a:ext cx="10842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71" name="Google Shape;271;g3d6128f313f_0_239"/>
          <p:cNvGraphicFramePr/>
          <p:nvPr/>
        </p:nvGraphicFramePr>
        <p:xfrm>
          <a:off x="1862925" y="112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23650"/>
                <a:gridCol w="1032300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produto_nome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105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g3d6128f313f_0_239"/>
          <p:cNvSpPr txBox="1"/>
          <p:nvPr/>
        </p:nvSpPr>
        <p:spPr>
          <a:xfrm>
            <a:off x="5918925" y="801700"/>
            <a:ext cx="17145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dim_produto - Gold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3" name="Google Shape;273;g3d6128f313f_0_239"/>
          <p:cNvGraphicFramePr/>
          <p:nvPr/>
        </p:nvGraphicFramePr>
        <p:xfrm>
          <a:off x="5732025" y="112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{A40B404F-0F35-4E15-A0EC-DE032685A665}</a:tableStyleId>
              </a:tblPr>
              <a:tblGrid>
                <a:gridCol w="986150"/>
                <a:gridCol w="1102150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produto_nome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105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OESTE">
  <a:themeElements>
    <a:clrScheme name="UNOESTE">
      <a:dk1>
        <a:srgbClr val="004C00"/>
      </a:dk1>
      <a:lt1>
        <a:srgbClr val="FFFFFF"/>
      </a:lt1>
      <a:dk2>
        <a:srgbClr val="006600"/>
      </a:dk2>
      <a:lt2>
        <a:srgbClr val="D8D8D8"/>
      </a:lt2>
      <a:accent1>
        <a:srgbClr val="9BBB59"/>
      </a:accent1>
      <a:accent2>
        <a:srgbClr val="92D050"/>
      </a:accent2>
      <a:accent3>
        <a:srgbClr val="00B050"/>
      </a:accent3>
      <a:accent4>
        <a:srgbClr val="F79646"/>
      </a:accent4>
      <a:accent5>
        <a:srgbClr val="FFC000"/>
      </a:accent5>
      <a:accent6>
        <a:srgbClr val="FAC08F"/>
      </a:accent6>
      <a:hlink>
        <a:srgbClr val="FF9900"/>
      </a:hlink>
      <a:folHlink>
        <a:srgbClr val="CCFF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UNOESTE">
  <a:themeElements>
    <a:clrScheme name="UNOESTE">
      <a:dk1>
        <a:srgbClr val="004C00"/>
      </a:dk1>
      <a:lt1>
        <a:srgbClr val="FFFFFF"/>
      </a:lt1>
      <a:dk2>
        <a:srgbClr val="006600"/>
      </a:dk2>
      <a:lt2>
        <a:srgbClr val="D8D8D8"/>
      </a:lt2>
      <a:accent1>
        <a:srgbClr val="9BBB59"/>
      </a:accent1>
      <a:accent2>
        <a:srgbClr val="92D050"/>
      </a:accent2>
      <a:accent3>
        <a:srgbClr val="00B050"/>
      </a:accent3>
      <a:accent4>
        <a:srgbClr val="F79646"/>
      </a:accent4>
      <a:accent5>
        <a:srgbClr val="FFC000"/>
      </a:accent5>
      <a:accent6>
        <a:srgbClr val="FAC08F"/>
      </a:accent6>
      <a:hlink>
        <a:srgbClr val="FF9900"/>
      </a:hlink>
      <a:folHlink>
        <a:srgbClr val="CCFF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2015-03-27T12:49:42Z</dcterms:created>
  <dc:creator>ledu</dc:creator>
</cp:coreProperties>
</file>