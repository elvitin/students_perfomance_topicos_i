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2" r:id="rId9"/>
    <p:sldId id="276" r:id="rId10"/>
    <p:sldId id="275" r:id="rId11"/>
    <p:sldId id="263" r:id="rId12"/>
    <p:sldId id="277" r:id="rId13"/>
    <p:sldId id="264" r:id="rId14"/>
    <p:sldId id="266" r:id="rId15"/>
    <p:sldId id="267" r:id="rId16"/>
    <p:sldId id="281" r:id="rId17"/>
    <p:sldId id="280" r:id="rId18"/>
    <p:sldId id="282" r:id="rId19"/>
    <p:sldId id="284" r:id="rId20"/>
    <p:sldId id="283" r:id="rId21"/>
    <p:sldId id="285" r:id="rId22"/>
    <p:sldId id="286" r:id="rId23"/>
    <p:sldId id="287" r:id="rId24"/>
    <p:sldId id="288" r:id="rId25"/>
    <p:sldId id="289" r:id="rId26"/>
    <p:sldId id="269" r:id="rId27"/>
    <p:sldId id="290" r:id="rId28"/>
    <p:sldId id="291" r:id="rId29"/>
    <p:sldId id="292" r:id="rId30"/>
    <p:sldId id="294" r:id="rId31"/>
    <p:sldId id="293" r:id="rId32"/>
    <p:sldId id="295" r:id="rId33"/>
    <p:sldId id="297" r:id="rId34"/>
    <p:sldId id="298" r:id="rId35"/>
    <p:sldId id="299" r:id="rId36"/>
    <p:sldId id="300" r:id="rId37"/>
    <p:sldId id="272" r:id="rId38"/>
    <p:sldId id="301" r:id="rId39"/>
    <p:sldId id="273" r:id="rId40"/>
    <p:sldId id="278" r:id="rId41"/>
    <p:sldId id="279" r:id="rId4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483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996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85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97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198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0546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7009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107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5453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101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0723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06532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5332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65853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249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973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750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0A1E79D-37B5-4417-B10B-3FC968D0900A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1BB9F7-E6FA-4D72-BAD3-00D2CE65A1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00525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5400" b="1" dirty="0"/>
              <a:t> </a:t>
            </a:r>
            <a:r>
              <a:rPr lang="pt-BR" sz="5400" b="1" dirty="0" err="1"/>
              <a:t>Students</a:t>
            </a:r>
            <a:r>
              <a:rPr lang="pt-BR" sz="5400" b="1" dirty="0"/>
              <a:t> Performance </a:t>
            </a:r>
            <a:r>
              <a:rPr lang="pt-BR" sz="5400" b="1" dirty="0" err="1"/>
              <a:t>Dataset</a:t>
            </a:r>
            <a:br>
              <a:rPr lang="pt-BR" sz="5400" b="1" dirty="0"/>
            </a:br>
            <a:r>
              <a:rPr lang="pt-BR" sz="5400" b="1" dirty="0"/>
              <a:t>Projeto Final</a:t>
            </a:r>
            <a:endParaRPr lang="pt-BR" sz="5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8825658" cy="1564153"/>
          </a:xfrm>
        </p:spPr>
        <p:txBody>
          <a:bodyPr>
            <a:normAutofit/>
          </a:bodyPr>
          <a:lstStyle/>
          <a:p>
            <a:pPr algn="ctr"/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Alunos:</a:t>
            </a:r>
          </a:p>
          <a:p>
            <a:pPr algn="ctr"/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Diego Vinicius Brito </a:t>
            </a:r>
            <a:r>
              <a:rPr lang="pt-BR" sz="1400" dirty="0" err="1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Matricardi</a:t>
            </a:r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RA: 262124858 </a:t>
            </a:r>
          </a:p>
          <a:p>
            <a:pPr algn="ctr"/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Felipe </a:t>
            </a:r>
            <a:r>
              <a:rPr lang="pt-BR" sz="1400" dirty="0" err="1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Huss</a:t>
            </a:r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Mendes Pereira- RA: 262216051 </a:t>
            </a:r>
          </a:p>
          <a:p>
            <a:pPr algn="ctr"/>
            <a:r>
              <a:rPr lang="pt-BR" sz="14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Victor Taveira Rodrigues- RA: 261911759</a:t>
            </a:r>
          </a:p>
        </p:txBody>
      </p:sp>
    </p:spTree>
    <p:extLst>
      <p:ext uri="{BB962C8B-B14F-4D97-AF65-F5344CB8AC3E}">
        <p14:creationId xmlns:p14="http://schemas.microsoft.com/office/powerpoint/2010/main" val="669438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Base de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33211"/>
          </a:xfrm>
        </p:spPr>
        <p:txBody>
          <a:bodyPr/>
          <a:lstStyle/>
          <a:p>
            <a:r>
              <a:rPr lang="pt-BR" dirty="0"/>
              <a:t>Link da base: https://www.kaggle.com/datasets/rabieelkharoua/students-performance-dataset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86" y="3449145"/>
            <a:ext cx="11621192" cy="290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322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Contextualização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Objetivo</a:t>
            </a:r>
          </a:p>
          <a:p>
            <a:r>
              <a:rPr lang="pt-BR" dirty="0"/>
              <a:t>Informações sobre o </a:t>
            </a:r>
            <a:r>
              <a:rPr lang="pt-BR" dirty="0" err="1"/>
              <a:t>dataset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48585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inicial do </a:t>
            </a:r>
            <a:r>
              <a:rPr lang="pt-BR" dirty="0" err="1"/>
              <a:t>dataset</a:t>
            </a:r>
            <a:r>
              <a:rPr lang="pt-BR" dirty="0"/>
              <a:t> </a:t>
            </a:r>
          </a:p>
        </p:txBody>
      </p:sp>
      <p:pic>
        <p:nvPicPr>
          <p:cNvPr id="6" name="Espaço Reservado para Conteúdo 10">
            <a:extLst>
              <a:ext uri="{FF2B5EF4-FFF2-40B4-BE49-F238E27FC236}">
                <a16:creationId xmlns:a16="http://schemas.microsoft.com/office/drawing/2014/main" id="{95B6E1EC-3DFE-14A0-B4D1-8E382EBA8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8" y="2734734"/>
            <a:ext cx="12100444" cy="126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9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48723" y="2773767"/>
            <a:ext cx="10515600" cy="1299469"/>
          </a:xfrm>
        </p:spPr>
        <p:txBody>
          <a:bodyPr/>
          <a:lstStyle/>
          <a:p>
            <a:pPr algn="ctr"/>
            <a:r>
              <a:rPr lang="pt-BR" dirty="0"/>
              <a:t>Processo de Engenharia de Dados</a:t>
            </a:r>
          </a:p>
        </p:txBody>
      </p:sp>
    </p:spTree>
    <p:extLst>
      <p:ext uri="{BB962C8B-B14F-4D97-AF65-F5344CB8AC3E}">
        <p14:creationId xmlns:p14="http://schemas.microsoft.com/office/powerpoint/2010/main" val="1215728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66174"/>
          </a:xfrm>
        </p:spPr>
        <p:txBody>
          <a:bodyPr/>
          <a:lstStyle/>
          <a:p>
            <a:r>
              <a:rPr lang="pt-BR" dirty="0"/>
              <a:t>Medalhão-Bronze Código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AF53439-2F39-7A39-17B1-13FA232F63BA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483625" y="1299071"/>
            <a:ext cx="9153328" cy="1920580"/>
          </a:xfr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2640D57-F5EF-8A3C-4C14-AD5C5AD1B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25" y="3299830"/>
            <a:ext cx="11447259" cy="1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367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098DD064-91C7-A2B6-7E50-18B45972A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Medalhão Bronze-tabela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4C419F0A-0126-0B34-4372-6D1B6D274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7057"/>
            <a:ext cx="12192000" cy="220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183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pt-BR" dirty="0"/>
              <a:t>Medalhão – Prata Código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901D39A-5FD0-E1B9-7020-6397640AC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512" y="1152983"/>
            <a:ext cx="6101822" cy="198804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ACBCBE7C-B13D-785B-0C10-A2BC17EB2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12" y="3141032"/>
            <a:ext cx="6101822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97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F3710B-D3AD-72C6-27F3-30BA8A508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177" y="204381"/>
            <a:ext cx="9404723" cy="749549"/>
          </a:xfrm>
        </p:spPr>
        <p:txBody>
          <a:bodyPr/>
          <a:lstStyle/>
          <a:p>
            <a:r>
              <a:rPr lang="pt-BR" dirty="0"/>
              <a:t>Medalhão- Prata Código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F8980A5-B75A-322D-27C2-FC354208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77" y="1207559"/>
            <a:ext cx="6152623" cy="3505081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EC9784B8-D1CC-09CB-90BA-A44937C4B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207559"/>
            <a:ext cx="5668166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362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6572F8-245B-E9FF-D539-D798A443C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Medalhão – Prata Tabela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1C6FFD4-2128-EE1B-EC18-37A25BED7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6020"/>
            <a:ext cx="12192000" cy="193298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DC8145E-1CEA-AAE8-7DC5-4F02CC3D9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46" y="3429000"/>
            <a:ext cx="9475787" cy="309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478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Medalhão- Ouro Tabelas geradas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9E6F55E-40A6-7F0A-CF9B-AB057E7AF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76" y="1931685"/>
            <a:ext cx="11567847" cy="156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1824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BA4A6B1-02EF-AFC2-1AED-7E53D809D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Medalhão – Ouro </a:t>
            </a:r>
            <a:r>
              <a:rPr lang="pt-BR" dirty="0" err="1"/>
              <a:t>Dim_alunos</a:t>
            </a:r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04E477F-DCF6-9E45-0A03-6E865D8DD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9931" y="1477928"/>
            <a:ext cx="4396338" cy="576262"/>
          </a:xfrm>
        </p:spPr>
        <p:txBody>
          <a:bodyPr/>
          <a:lstStyle/>
          <a:p>
            <a:r>
              <a:rPr lang="pt-BR" dirty="0"/>
              <a:t>dim_aluno Código</a:t>
            </a: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2A74F06D-64CA-1579-971D-000D16F45F7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69931" y="2099020"/>
            <a:ext cx="5822420" cy="2043941"/>
          </a:xfrm>
          <a:prstGeom prst="rect">
            <a:avLst/>
          </a:prstGeom>
        </p:spPr>
      </p:pic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E4A32959-A9AD-8E12-FE40-E9734FA3C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69930" y="4227549"/>
            <a:ext cx="4396339" cy="576262"/>
          </a:xfrm>
        </p:spPr>
        <p:txBody>
          <a:bodyPr/>
          <a:lstStyle/>
          <a:p>
            <a:r>
              <a:rPr lang="pt-BR" dirty="0"/>
              <a:t>dim_aluno Tabela</a:t>
            </a: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23CD2BBF-3639-A49F-1F11-C581BBF8300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869930" y="4888399"/>
            <a:ext cx="9956364" cy="180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58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877956" cy="1400530"/>
          </a:xfrm>
        </p:spPr>
        <p:txBody>
          <a:bodyPr/>
          <a:lstStyle/>
          <a:p>
            <a:r>
              <a:rPr lang="pt-BR" dirty="0"/>
              <a:t>Medalhão- Ouro </a:t>
            </a:r>
            <a:r>
              <a:rPr lang="pt-BR" dirty="0" err="1"/>
              <a:t>fato_Desempenho</a:t>
            </a:r>
            <a:endParaRPr lang="pt-BR" dirty="0"/>
          </a:p>
        </p:txBody>
      </p:sp>
      <p:sp>
        <p:nvSpPr>
          <p:cNvPr id="6" name="Espaço Reservado para Conteúdo 5"/>
          <p:cNvSpPr>
            <a:spLocks noGrp="1"/>
          </p:cNvSpPr>
          <p:nvPr>
            <p:ph sz="half" idx="1"/>
          </p:nvPr>
        </p:nvSpPr>
        <p:spPr>
          <a:xfrm>
            <a:off x="952132" y="1340909"/>
            <a:ext cx="4396339" cy="445557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t-BR" dirty="0" err="1"/>
              <a:t>Fato_desempenho</a:t>
            </a:r>
            <a:r>
              <a:rPr lang="pt-BR" dirty="0"/>
              <a:t> </a:t>
            </a:r>
            <a:r>
              <a:rPr lang="pt-BR" dirty="0" err="1"/>
              <a:t>codigo</a:t>
            </a:r>
            <a:endParaRPr lang="pt-BR" dirty="0"/>
          </a:p>
        </p:txBody>
      </p:sp>
      <p:sp>
        <p:nvSpPr>
          <p:cNvPr id="7" name="Espaço Reservado para Conteúdo 6"/>
          <p:cNvSpPr>
            <a:spLocks noGrp="1"/>
          </p:cNvSpPr>
          <p:nvPr>
            <p:ph sz="half" idx="2"/>
          </p:nvPr>
        </p:nvSpPr>
        <p:spPr>
          <a:xfrm>
            <a:off x="646111" y="4535792"/>
            <a:ext cx="4396341" cy="402179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Ouro Fato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7C31E04-7E74-E0F8-13C8-DACFE9A43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04753"/>
            <a:ext cx="12192000" cy="180118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748C38F-ACF3-487E-D9E2-69ADE4E56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32" y="1649314"/>
            <a:ext cx="6725589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7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0656" y="2349818"/>
            <a:ext cx="10515600" cy="1249593"/>
          </a:xfrm>
        </p:spPr>
        <p:txBody>
          <a:bodyPr/>
          <a:lstStyle/>
          <a:p>
            <a:pPr algn="ctr"/>
            <a:r>
              <a:rPr lang="pt-BR" dirty="0"/>
              <a:t>Processo de Analise de Dados</a:t>
            </a:r>
          </a:p>
        </p:txBody>
      </p:sp>
    </p:spTree>
    <p:extLst>
      <p:ext uri="{BB962C8B-B14F-4D97-AF65-F5344CB8AC3E}">
        <p14:creationId xmlns:p14="http://schemas.microsoft.com/office/powerpoint/2010/main" val="560689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Números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AF545826-8D45-D072-C691-F5280AD370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666" y="2977462"/>
            <a:ext cx="8947150" cy="6423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EDC82E-6CAA-ACF7-06B6-58986E7AD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784" y="3911715"/>
            <a:ext cx="3381847" cy="184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3430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9C020-20F8-A4CE-42A7-A2BE56450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3E3D63CA-BFA7-63F1-B29E-1FD51E0AF3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666" y="2977462"/>
            <a:ext cx="8947150" cy="6423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D167E9-FE1D-C90C-5B54-DE962E11F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0" y="707479"/>
            <a:ext cx="10545647" cy="518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038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16DBE-9E20-A825-F6A0-A9AD0FF3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85D0F4B-33A8-B280-1E5B-6C9B542DF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Analise Descritiva - o que aconteceu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91F6BE36-9ACF-CC75-C4C8-A182A470E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115753"/>
            <a:ext cx="9470903" cy="2675390"/>
          </a:xfrm>
        </p:spPr>
        <p:txBody>
          <a:bodyPr>
            <a:normAutofit/>
          </a:bodyPr>
          <a:lstStyle/>
          <a:p>
            <a:r>
              <a:rPr lang="pt-BR" sz="2400" dirty="0"/>
              <a:t>Resumo o desempenho acadêmico, aqui buscamos responder:</a:t>
            </a:r>
          </a:p>
          <a:p>
            <a:pPr lvl="1"/>
            <a:r>
              <a:rPr lang="pt-BR" sz="2400" dirty="0"/>
              <a:t>Como o GPA está distribuído na base?</a:t>
            </a:r>
          </a:p>
          <a:p>
            <a:pPr lvl="1"/>
            <a:r>
              <a:rPr lang="pt-BR" sz="2400" dirty="0"/>
              <a:t>Quais classes de nota concentram mais alunos?</a:t>
            </a:r>
          </a:p>
          <a:p>
            <a:pPr lvl="1"/>
            <a:r>
              <a:rPr lang="pt-BR" sz="2400" dirty="0"/>
              <a:t>O volume de alunos aprovados é maior ou menor do que o de alunos em risco?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2044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0DFA5-AE64-B00F-B801-61E14251E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9ADBB53-A948-759C-E4E2-D37F3535C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GPA está distribuído na base?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2B62D9-792E-09B2-0A96-DFACF7DA8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Código de Geração dessa Tabela Analítica</a:t>
            </a:r>
          </a:p>
          <a:p>
            <a:endParaRPr lang="pt-BR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D750F20-6C4E-1F3D-2425-3B8809766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320" y="2602521"/>
            <a:ext cx="6305806" cy="40419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4D8B6F-40A4-7559-F1B0-7AB30FFFA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11" y="3165798"/>
            <a:ext cx="3546762" cy="291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090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4764-9378-90C4-2118-570F4FD61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EFA4A5C-E432-07C6-2FB5-31CA5A07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GPA está distribuído na base?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BCEF91-1A6B-AF2E-D495-5F3B507C4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867" y="1310457"/>
            <a:ext cx="3132626" cy="713728"/>
          </a:xfrm>
        </p:spPr>
        <p:txBody>
          <a:bodyPr/>
          <a:lstStyle/>
          <a:p>
            <a:r>
              <a:rPr lang="pt-BR" dirty="0"/>
              <a:t>Distribuição do GPA</a:t>
            </a:r>
          </a:p>
          <a:p>
            <a:endParaRPr lang="pt-B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5D2029-6C9D-D208-26E4-C46A37BE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24" y="3110081"/>
            <a:ext cx="3703780" cy="18946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26C3B8-BB3E-AE34-3486-2A4057B93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555" y="2556645"/>
            <a:ext cx="761153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449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0AEE6-319E-855B-8124-66BD9183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117E681-CDD9-3A77-B5A1-B8E6FAF0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740535" cy="1400530"/>
          </a:xfrm>
        </p:spPr>
        <p:txBody>
          <a:bodyPr/>
          <a:lstStyle/>
          <a:p>
            <a:r>
              <a:rPr lang="pt-BR" dirty="0"/>
              <a:t>Quais classes de nota concentram mais alunos?</a:t>
            </a:r>
            <a:br>
              <a:rPr lang="pt-BR" dirty="0"/>
            </a:br>
            <a:endParaRPr lang="pt-BR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3D67946-A089-38FA-5CFA-AA8555D07C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284" y="2017361"/>
            <a:ext cx="4256566" cy="32423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045AD7-FEEA-DAEC-9AF1-81A212F6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486" y="1665709"/>
            <a:ext cx="70685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482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0035-8022-CE6D-6EB7-FACF52787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57B6F3B-3A9A-D185-82DB-1036026B2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194810"/>
            <a:ext cx="9740535" cy="2009128"/>
          </a:xfrm>
        </p:spPr>
        <p:txBody>
          <a:bodyPr/>
          <a:lstStyle/>
          <a:p>
            <a:r>
              <a:rPr lang="pt-BR" dirty="0"/>
              <a:t>O volume de alunos aprovados é maior ou menor do que o de alunos em risco?</a:t>
            </a:r>
            <a:br>
              <a:rPr lang="pt-BR" dirty="0"/>
            </a:br>
            <a:endParaRPr lang="pt-BR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9D2434B-84CF-1186-16AC-6AE06E0B8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122" y="1815812"/>
            <a:ext cx="4569926" cy="619943"/>
          </a:xfrm>
        </p:spPr>
        <p:txBody>
          <a:bodyPr/>
          <a:lstStyle/>
          <a:p>
            <a:r>
              <a:rPr lang="pt-BR" dirty="0"/>
              <a:t>Geração da Tabela Analítica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9D530D-58E8-F746-4232-0C79DF79F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891" y="2354624"/>
            <a:ext cx="5939232" cy="4140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0416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644D1-52E1-E5D4-9A16-5739F9BA5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58D2242-82AF-394F-1E88-642A37292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194810"/>
            <a:ext cx="9740535" cy="2009128"/>
          </a:xfrm>
        </p:spPr>
        <p:txBody>
          <a:bodyPr/>
          <a:lstStyle/>
          <a:p>
            <a:r>
              <a:rPr lang="pt-BR" dirty="0"/>
              <a:t>O volume de alunos aprovados é maior ou menor do que o de alunos em risco?</a:t>
            </a:r>
            <a:br>
              <a:rPr lang="pt-BR" dirty="0"/>
            </a:br>
            <a:endParaRPr lang="pt-BR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AFEEA17-8E5E-84A1-1ED5-3B8DDB635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754" y="1620427"/>
            <a:ext cx="7164632" cy="38812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Analise - Taxa de aprovação versus risco acadêmico.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326E6B-C8CC-4AFA-1AF1-1A6C0201A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899" y="2008896"/>
            <a:ext cx="3665790" cy="17634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5A6B18-3922-BF0F-B494-6B11DDD5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658" y="3845543"/>
            <a:ext cx="10011508" cy="2784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78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F7C76-54DB-4697-D24D-BC0D364F0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0997661-D6DE-400C-225D-3EB1ADEE3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194810"/>
            <a:ext cx="9740535" cy="2009128"/>
          </a:xfrm>
        </p:spPr>
        <p:txBody>
          <a:bodyPr/>
          <a:lstStyle/>
          <a:p>
            <a:r>
              <a:rPr lang="pt-BR" dirty="0"/>
              <a:t>O volume de alunos aprovados é maior ou menor do que o de alunos em risco?</a:t>
            </a:r>
            <a:br>
              <a:rPr lang="pt-BR" dirty="0"/>
            </a:br>
            <a:endParaRPr lang="pt-BR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83A415D-DC78-6E73-49EA-0E2F8CC44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54" y="1633106"/>
            <a:ext cx="4749677" cy="38812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Analise – Distribuição por Gênero.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C0382C-9E2C-639D-A8B1-CAFCB0805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870" y="2203938"/>
            <a:ext cx="3777093" cy="15543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5B137D-7801-61F7-5C94-738AF353C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3" y="3781041"/>
            <a:ext cx="9651999" cy="288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72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8A92B-B118-6D03-F6C7-B4848FDE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6FE82E-D8AD-7D98-12E8-8CE46A0DC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Analise Diagnostica – Porque Aconteceu ?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3A6C4D-55D8-5E7D-4E60-83A067967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3742" y="2654391"/>
            <a:ext cx="8946541" cy="2027024"/>
          </a:xfrm>
        </p:spPr>
        <p:txBody>
          <a:bodyPr/>
          <a:lstStyle/>
          <a:p>
            <a:r>
              <a:rPr lang="pt-BR" dirty="0"/>
              <a:t>Nesta etapa, o objetivo é investigar fatores que ajudam a explicar a diferença de desempenho entre os alunos.</a:t>
            </a:r>
            <a:br>
              <a:rPr lang="pt-BR" dirty="0"/>
            </a:br>
            <a:endParaRPr lang="pt-BR" dirty="0"/>
          </a:p>
          <a:p>
            <a:r>
              <a:rPr lang="pt-BR" dirty="0"/>
              <a:t>Os gráficos abaixo observam o GPA sob a ótica de hábitos de estudo, frequência, suporte familiar e apoio acadêmico.</a:t>
            </a:r>
          </a:p>
        </p:txBody>
      </p:sp>
    </p:spTree>
    <p:extLst>
      <p:ext uri="{BB962C8B-B14F-4D97-AF65-F5344CB8AC3E}">
        <p14:creationId xmlns:p14="http://schemas.microsoft.com/office/powerpoint/2010/main" val="813224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2D20A-AB52-1649-C7F3-9C6FD7D5D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3B485A-EBB0-CF97-E511-532BF1484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665" y="277447"/>
            <a:ext cx="10756535" cy="1400530"/>
          </a:xfrm>
        </p:spPr>
        <p:txBody>
          <a:bodyPr/>
          <a:lstStyle/>
          <a:p>
            <a:r>
              <a:rPr lang="pt-BR" sz="3600" dirty="0"/>
              <a:t>Analise Diagnostica</a:t>
            </a:r>
            <a:br>
              <a:rPr lang="pt-BR" sz="3600" dirty="0"/>
            </a:br>
            <a:endParaRPr lang="pt-BR" sz="3600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855D1713-297A-1400-EB50-97E72566944B}"/>
              </a:ext>
            </a:extLst>
          </p:cNvPr>
          <p:cNvSpPr txBox="1">
            <a:spLocks/>
          </p:cNvSpPr>
          <p:nvPr/>
        </p:nvSpPr>
        <p:spPr>
          <a:xfrm>
            <a:off x="1882222" y="1990968"/>
            <a:ext cx="8754517" cy="3159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pt-BR" sz="2800" dirty="0"/>
              <a:t>Algumas Analises:</a:t>
            </a:r>
          </a:p>
          <a:p>
            <a:pPr lvl="1"/>
            <a:r>
              <a:rPr lang="pt-BR" sz="2800" dirty="0"/>
              <a:t>GPA médio por faixa de horas de estudo?</a:t>
            </a:r>
          </a:p>
          <a:p>
            <a:pPr lvl="1"/>
            <a:r>
              <a:rPr lang="pt-BR" sz="2800" dirty="0"/>
              <a:t>GPA médio por faixa de faltas?</a:t>
            </a:r>
          </a:p>
          <a:p>
            <a:pPr lvl="1"/>
            <a:r>
              <a:rPr lang="pt-BR" sz="2800" dirty="0"/>
              <a:t>Relação entre horas de estudo e GPA?</a:t>
            </a:r>
          </a:p>
          <a:p>
            <a:pPr lvl="1"/>
            <a:r>
              <a:rPr lang="pt-BR" sz="2800" dirty="0"/>
              <a:t>Relação entre faltas e GPA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19724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93003" y="293077"/>
            <a:ext cx="10756535" cy="1400530"/>
          </a:xfrm>
        </p:spPr>
        <p:txBody>
          <a:bodyPr/>
          <a:lstStyle/>
          <a:p>
            <a:r>
              <a:rPr lang="pt-BR" dirty="0"/>
              <a:t>Analise Diagnostica – Tabelas  Analíticas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48A35E-862E-9A0D-19CF-EEC72D13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003" y="1092657"/>
            <a:ext cx="4666793" cy="467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0D214D-0F43-2592-4C76-E2D569F1A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20" y="1427389"/>
            <a:ext cx="5185741" cy="5137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79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F9461-318C-850B-FCFC-AB8ED4006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72597F-E25B-26FB-F879-50089BBFD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003" y="293077"/>
            <a:ext cx="10709643" cy="1400530"/>
          </a:xfrm>
        </p:spPr>
        <p:txBody>
          <a:bodyPr/>
          <a:lstStyle/>
          <a:p>
            <a:r>
              <a:rPr lang="pt-BR" sz="3600" dirty="0"/>
              <a:t>Analise Diagnostica – Código dos Gráficos Analíticos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A5BC6-B0D0-603C-5BB0-2C9940AB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21" y="1693607"/>
            <a:ext cx="3962730" cy="50002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528AAF-5262-81DA-2D88-122C35D69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062" y="1253092"/>
            <a:ext cx="4872765" cy="531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1027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0D10-1E4A-4EBC-126D-43D077FA3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DB278-8F54-7CF8-154C-6F0C36171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588" y="175845"/>
            <a:ext cx="8177458" cy="957385"/>
          </a:xfrm>
        </p:spPr>
        <p:txBody>
          <a:bodyPr/>
          <a:lstStyle/>
          <a:p>
            <a:r>
              <a:rPr lang="pt-BR" sz="3600" dirty="0"/>
              <a:t>Analise Diagnostica - Gráficos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476E57-C36A-24E1-2A5E-28297B566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1" y="779465"/>
            <a:ext cx="7893538" cy="5902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33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8138-9984-E8E3-18E7-0214B70D1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6B09A-2418-B004-3E78-4D4EA7F59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665" y="277447"/>
            <a:ext cx="10756535" cy="1400530"/>
          </a:xfrm>
        </p:spPr>
        <p:txBody>
          <a:bodyPr/>
          <a:lstStyle/>
          <a:p>
            <a:r>
              <a:rPr lang="pt-BR" sz="3600" dirty="0"/>
              <a:t>Analise Diagnostica</a:t>
            </a:r>
            <a:br>
              <a:rPr lang="pt-BR" sz="3600" dirty="0"/>
            </a:br>
            <a:endParaRPr lang="pt-BR" sz="3600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3F175855-F5E1-FD5E-4984-2E75526194FA}"/>
              </a:ext>
            </a:extLst>
          </p:cNvPr>
          <p:cNvSpPr txBox="1">
            <a:spLocks/>
          </p:cNvSpPr>
          <p:nvPr/>
        </p:nvSpPr>
        <p:spPr>
          <a:xfrm>
            <a:off x="2027450" y="1990970"/>
            <a:ext cx="8137100" cy="3081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pt-BR" sz="2800" dirty="0"/>
              <a:t>Mais Analises:</a:t>
            </a:r>
          </a:p>
          <a:p>
            <a:pPr lvl="1"/>
            <a:r>
              <a:rPr lang="pt-BR" sz="2800" dirty="0"/>
              <a:t>GPA médio por suporte parental?</a:t>
            </a:r>
          </a:p>
          <a:p>
            <a:pPr lvl="1"/>
            <a:r>
              <a:rPr lang="pt-BR" sz="2800" dirty="0"/>
              <a:t>GPA médio com e sem tutoria?</a:t>
            </a:r>
          </a:p>
          <a:p>
            <a:pPr lvl="1"/>
            <a:r>
              <a:rPr lang="pt-BR" sz="2800" dirty="0"/>
              <a:t>GPA médio com e sem extracurricular?</a:t>
            </a:r>
          </a:p>
          <a:p>
            <a:pPr lvl="1"/>
            <a:r>
              <a:rPr lang="pt-BR" sz="2800" dirty="0"/>
              <a:t>GPA médio por escolaridade dos pais?</a:t>
            </a:r>
          </a:p>
        </p:txBody>
      </p:sp>
    </p:spTree>
    <p:extLst>
      <p:ext uri="{BB962C8B-B14F-4D97-AF65-F5344CB8AC3E}">
        <p14:creationId xmlns:p14="http://schemas.microsoft.com/office/powerpoint/2010/main" val="11227534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2D11E-1AA6-3778-1FF6-8E16ECF8C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99E8E-BDDE-34AC-769B-C69B32E38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003" y="293077"/>
            <a:ext cx="10756535" cy="1400530"/>
          </a:xfrm>
        </p:spPr>
        <p:txBody>
          <a:bodyPr/>
          <a:lstStyle/>
          <a:p>
            <a:r>
              <a:rPr lang="pt-BR" dirty="0"/>
              <a:t>Analise Diagnostica – Tabelas  Analíticas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56ED1F-1B5C-D38C-7AFA-28D6E776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1" y="1258277"/>
            <a:ext cx="5944712" cy="5048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8FC9C-CC8B-BFB1-6080-DFC1FA67E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199" y="1258277"/>
            <a:ext cx="5823827" cy="504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7242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8CC97-EE9F-B8AE-E13C-20BCF203B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0ECC2-AD06-21DE-89AB-E4CECAF1E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214923"/>
            <a:ext cx="10756535" cy="1270000"/>
          </a:xfrm>
        </p:spPr>
        <p:txBody>
          <a:bodyPr/>
          <a:lstStyle/>
          <a:p>
            <a:r>
              <a:rPr lang="pt-BR" sz="3600" dirty="0"/>
              <a:t>Analise Diagnostica – Código dos Gráficos Analíticos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26582A-DE4E-A3E0-F0E2-EA16E6309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15" y="1484923"/>
            <a:ext cx="4445289" cy="50951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A6B11C-81AB-8F15-DDCA-6C2CAD583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315" y="1359877"/>
            <a:ext cx="4545285" cy="5396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924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3196-6105-D74D-02F4-D588FF136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C1C75E-B63B-11AD-DF47-2C8BF24EE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214923"/>
            <a:ext cx="10756535" cy="1270000"/>
          </a:xfrm>
        </p:spPr>
        <p:txBody>
          <a:bodyPr/>
          <a:lstStyle/>
          <a:p>
            <a:r>
              <a:rPr lang="pt-BR" sz="3600" dirty="0"/>
              <a:t>Analise Diagnostica – Gráficos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CF677C-587D-053A-9D1B-B12573720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70" y="819684"/>
            <a:ext cx="7937350" cy="5936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181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A8EFC-4511-6A38-0F88-F2AB59F9B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A1AB8-D462-8422-8826-D82A9F2DA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665" y="277447"/>
            <a:ext cx="10756535" cy="1400530"/>
          </a:xfrm>
        </p:spPr>
        <p:txBody>
          <a:bodyPr/>
          <a:lstStyle/>
          <a:p>
            <a:r>
              <a:rPr lang="pt-BR" sz="3600" dirty="0"/>
              <a:t>Analise Diagnostica</a:t>
            </a:r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D855B17-7081-EE98-99B0-05FD600FCABB}"/>
              </a:ext>
            </a:extLst>
          </p:cNvPr>
          <p:cNvSpPr txBox="1">
            <a:spLocks/>
          </p:cNvSpPr>
          <p:nvPr/>
        </p:nvSpPr>
        <p:spPr>
          <a:xfrm>
            <a:off x="1578708" y="2250831"/>
            <a:ext cx="8417169" cy="345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pt-BR" sz="2400" dirty="0"/>
              <a:t>Combinação de Fatores e Evidências Extras:</a:t>
            </a:r>
          </a:p>
          <a:p>
            <a:pPr lvl="1"/>
            <a:r>
              <a:rPr lang="pt-BR" sz="2000" dirty="0"/>
              <a:t>O perfil dedicado realmente se destaca?</a:t>
            </a:r>
          </a:p>
          <a:p>
            <a:pPr lvl="1"/>
            <a:r>
              <a:rPr lang="pt-BR" sz="2000" dirty="0"/>
              <a:t>Quais variáveis apresentam associação mais forte com o GPA?</a:t>
            </a:r>
          </a:p>
          <a:p>
            <a:pPr lvl="1"/>
            <a:r>
              <a:rPr lang="pt-BR" sz="2000" dirty="0"/>
              <a:t>A idade muda o desempenho médio de forma relevante?</a:t>
            </a:r>
          </a:p>
          <a:p>
            <a:pPr lvl="1"/>
            <a:r>
              <a:rPr lang="pt-BR" sz="2000" dirty="0"/>
              <a:t>Como suporte parental e tutoria se combinam no resultado acadêmico?</a:t>
            </a:r>
          </a:p>
        </p:txBody>
      </p:sp>
    </p:spTree>
    <p:extLst>
      <p:ext uri="{BB962C8B-B14F-4D97-AF65-F5344CB8AC3E}">
        <p14:creationId xmlns:p14="http://schemas.microsoft.com/office/powerpoint/2010/main" val="14146761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00CEF-B7C0-CB26-8320-22CAA195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1D078E-503D-0D93-4CB6-CCB486FC1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003" y="293077"/>
            <a:ext cx="10756535" cy="1400530"/>
          </a:xfrm>
        </p:spPr>
        <p:txBody>
          <a:bodyPr/>
          <a:lstStyle/>
          <a:p>
            <a:r>
              <a:rPr lang="pt-BR" dirty="0"/>
              <a:t>Analise Diagnostica – Tabelas  Analíticas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0DA6F5-3097-DB79-1BFF-21DD35A4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02" y="993342"/>
            <a:ext cx="4028201" cy="35817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8539A6-D024-46AA-F1D4-56DCD16AA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91" y="2983146"/>
            <a:ext cx="4724139" cy="358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FBCA8A-A34E-8CE8-F32A-F5A58E084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487" y="1170460"/>
            <a:ext cx="4829051" cy="392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732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26802-817A-7C8D-24AD-973F74F3F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0496E-2458-F68E-9EA7-33DF96C72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214923"/>
            <a:ext cx="10756535" cy="1270000"/>
          </a:xfrm>
        </p:spPr>
        <p:txBody>
          <a:bodyPr/>
          <a:lstStyle/>
          <a:p>
            <a:r>
              <a:rPr lang="pt-BR" sz="3600" dirty="0"/>
              <a:t>Analise Diagnostica – Código dos Gráficos Analíticos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EC860E-A810-DAAC-66FB-D013695A1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23" y="1309076"/>
            <a:ext cx="5033401" cy="54981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2277BB-5340-618E-24BF-7D91875C2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90" y="1484923"/>
            <a:ext cx="4843141" cy="475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8939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8D5F8-9B82-EBC2-ECA7-196276AC6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B68E8C-EE2C-1D73-4246-22FE75299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57" y="214923"/>
            <a:ext cx="10756535" cy="1270000"/>
          </a:xfrm>
        </p:spPr>
        <p:txBody>
          <a:bodyPr/>
          <a:lstStyle/>
          <a:p>
            <a:r>
              <a:rPr lang="pt-BR" sz="3600" dirty="0"/>
              <a:t>Analise Diagnostica – Gráficos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B67D93-9F6D-D120-F500-8F29783E1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863" y="859832"/>
            <a:ext cx="7737044" cy="5783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467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2572" y="179178"/>
            <a:ext cx="11100413" cy="973591"/>
          </a:xfrm>
        </p:spPr>
        <p:txBody>
          <a:bodyPr/>
          <a:lstStyle/>
          <a:p>
            <a:r>
              <a:rPr lang="pt-BR" dirty="0"/>
              <a:t>Conclusão da Analise (Síntese Analítica).</a:t>
            </a:r>
          </a:p>
        </p:txBody>
      </p:sp>
      <p:sp>
        <p:nvSpPr>
          <p:cNvPr id="4" name="Espaço Reservado para Conteúdo 4">
            <a:extLst>
              <a:ext uri="{FF2B5EF4-FFF2-40B4-BE49-F238E27FC236}">
                <a16:creationId xmlns:a16="http://schemas.microsoft.com/office/drawing/2014/main" id="{1C4FB382-F597-33A2-8A23-2C807846E4FF}"/>
              </a:ext>
            </a:extLst>
          </p:cNvPr>
          <p:cNvSpPr txBox="1">
            <a:spLocks/>
          </p:cNvSpPr>
          <p:nvPr/>
        </p:nvSpPr>
        <p:spPr>
          <a:xfrm>
            <a:off x="1477107" y="2055446"/>
            <a:ext cx="9237785" cy="2078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pt-BR" dirty="0"/>
              <a:t>O quadro apresentado é:</a:t>
            </a:r>
            <a:endParaRPr lang="pt-BR" sz="2400" dirty="0"/>
          </a:p>
          <a:p>
            <a:pPr lvl="1"/>
            <a:r>
              <a:rPr lang="pt-BR" dirty="0"/>
              <a:t>O desempenho acadêmico está concentrado nas faixas mais baixas de nota</a:t>
            </a:r>
            <a:r>
              <a:rPr lang="pt-BR" sz="2000" dirty="0"/>
              <a:t>.</a:t>
            </a:r>
          </a:p>
          <a:p>
            <a:pPr lvl="1"/>
            <a:r>
              <a:rPr lang="pt-BR" dirty="0"/>
              <a:t>O risco escolar é elevado.</a:t>
            </a:r>
          </a:p>
        </p:txBody>
      </p:sp>
    </p:spTree>
    <p:extLst>
      <p:ext uri="{BB962C8B-B14F-4D97-AF65-F5344CB8AC3E}">
        <p14:creationId xmlns:p14="http://schemas.microsoft.com/office/powerpoint/2010/main" val="34827167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862A-A3BB-026B-E715-16B7F92F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0C12B2-CDEB-F380-5586-4EAD9BB3D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72" y="179178"/>
            <a:ext cx="11100413" cy="973591"/>
          </a:xfrm>
        </p:spPr>
        <p:txBody>
          <a:bodyPr/>
          <a:lstStyle/>
          <a:p>
            <a:r>
              <a:rPr lang="pt-BR" dirty="0"/>
              <a:t>Conclusão da Analise – Principais Evidências</a:t>
            </a:r>
          </a:p>
        </p:txBody>
      </p:sp>
      <p:sp>
        <p:nvSpPr>
          <p:cNvPr id="4" name="Espaço Reservado para Conteúdo 4">
            <a:extLst>
              <a:ext uri="{FF2B5EF4-FFF2-40B4-BE49-F238E27FC236}">
                <a16:creationId xmlns:a16="http://schemas.microsoft.com/office/drawing/2014/main" id="{3686B3F4-30D0-A0D4-7FE4-89E0521487EF}"/>
              </a:ext>
            </a:extLst>
          </p:cNvPr>
          <p:cNvSpPr txBox="1">
            <a:spLocks/>
          </p:cNvSpPr>
          <p:nvPr/>
        </p:nvSpPr>
        <p:spPr>
          <a:xfrm>
            <a:off x="672123" y="1742831"/>
            <a:ext cx="9956801" cy="4540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60000"/>
                  <a:lumOff val="4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lvl="1"/>
            <a:r>
              <a:rPr lang="pt-BR" dirty="0"/>
              <a:t>Metade da base se concentra na  classe </a:t>
            </a:r>
            <a:r>
              <a:rPr lang="pt-BR" b="1" dirty="0"/>
              <a:t>F (GPA &lt; 2.0)</a:t>
            </a:r>
            <a:r>
              <a:rPr lang="pt-BR" dirty="0"/>
              <a:t> concentra cerca de metade da base.</a:t>
            </a:r>
            <a:endParaRPr lang="pt-BR" sz="2000" dirty="0"/>
          </a:p>
          <a:p>
            <a:pPr lvl="1"/>
            <a:r>
              <a:rPr lang="pt-BR" dirty="0"/>
              <a:t>O grupo </a:t>
            </a:r>
            <a:r>
              <a:rPr lang="pt-BR" b="1" dirty="0"/>
              <a:t>Em risco / Reprovado</a:t>
            </a:r>
            <a:r>
              <a:rPr lang="pt-BR" dirty="0"/>
              <a:t> representa aproximadamente dois terços dos alunos.</a:t>
            </a:r>
          </a:p>
          <a:p>
            <a:pPr lvl="1"/>
            <a:r>
              <a:rPr lang="pt-BR" dirty="0"/>
              <a:t>O GPA cresce conforme as horas de estudo aumentam</a:t>
            </a:r>
          </a:p>
          <a:p>
            <a:pPr lvl="1"/>
            <a:r>
              <a:rPr lang="pt-BR" dirty="0"/>
              <a:t>O GPA  cai de forma acentuada conforme as faltas se acumulam</a:t>
            </a:r>
          </a:p>
          <a:p>
            <a:pPr lvl="1"/>
            <a:r>
              <a:rPr lang="pt-BR" dirty="0"/>
              <a:t>Suporte parental, tutoria e participação extracurricular estão associados a melhores médias.</a:t>
            </a:r>
          </a:p>
          <a:p>
            <a:pPr lvl="1"/>
            <a:r>
              <a:rPr lang="pt-BR" dirty="0"/>
              <a:t>O perfil dedicado (</a:t>
            </a:r>
            <a:r>
              <a:rPr lang="pt-BR" b="1" dirty="0"/>
              <a:t>estudo &gt;= 10h </a:t>
            </a:r>
            <a:r>
              <a:rPr lang="pt-BR" dirty="0"/>
              <a:t>e</a:t>
            </a:r>
            <a:r>
              <a:rPr lang="pt-BR" b="1" dirty="0"/>
              <a:t> faltas &lt;= 10</a:t>
            </a:r>
            <a:r>
              <a:rPr lang="pt-BR" dirty="0"/>
              <a:t>), tem vantagens expressivas sobre os outros alunos.</a:t>
            </a:r>
          </a:p>
          <a:p>
            <a:pPr lvl="1"/>
            <a:r>
              <a:rPr lang="pt-BR" dirty="0"/>
              <a:t>A idade de forma isolada, tem uma participação muito baixa no resultado se comparada com hábitos de estudo e frequência.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746898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23536" y="1576734"/>
            <a:ext cx="10515600" cy="1931237"/>
          </a:xfrm>
        </p:spPr>
        <p:txBody>
          <a:bodyPr/>
          <a:lstStyle/>
          <a:p>
            <a:pPr algn="ctr"/>
            <a:r>
              <a:rPr lang="pt-BR" dirty="0"/>
              <a:t>Processo de Ciência de dados(Modelagem)</a:t>
            </a:r>
          </a:p>
        </p:txBody>
      </p:sp>
    </p:spTree>
    <p:extLst>
      <p:ext uri="{BB962C8B-B14F-4D97-AF65-F5344CB8AC3E}">
        <p14:creationId xmlns:p14="http://schemas.microsoft.com/office/powerpoint/2010/main" val="11921714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C1DDF7-5B80-3076-3D32-29BF776E4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Engineering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83F1C3-E7D7-871F-58DC-61B95DDB8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256178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AF4F9-F1AC-6AA6-87BE-B2DDE2DCA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ABE760-0653-B03D-CAF7-3DC345ED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7334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">
  <a:themeElements>
    <a:clrScheme name="Í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Í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279</TotalTime>
  <Words>635</Words>
  <Application>Microsoft Office PowerPoint</Application>
  <PresentationFormat>Widescreen</PresentationFormat>
  <Paragraphs>90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Century Gothic</vt:lpstr>
      <vt:lpstr>Wingdings</vt:lpstr>
      <vt:lpstr>Wingdings 3</vt:lpstr>
      <vt:lpstr>Íon</vt:lpstr>
      <vt:lpstr> Students Performance Dataset Projeto Final</vt:lpstr>
      <vt:lpstr>Base de dados</vt:lpstr>
      <vt:lpstr>Contextualização</vt:lpstr>
      <vt:lpstr>Estrutura inicial do dataset </vt:lpstr>
      <vt:lpstr>Processo de Engenharia de Dados</vt:lpstr>
      <vt:lpstr>Medalhão-Bronze Código</vt:lpstr>
      <vt:lpstr>Medalhão Bronze-tabela</vt:lpstr>
      <vt:lpstr>Medalhão – Prata Código</vt:lpstr>
      <vt:lpstr>Medalhão- Prata Código</vt:lpstr>
      <vt:lpstr>Medalhão – Prata Tabela</vt:lpstr>
      <vt:lpstr>Medalhão- Ouro Tabelas geradas</vt:lpstr>
      <vt:lpstr>Medalhão – Ouro Dim_alunos</vt:lpstr>
      <vt:lpstr>Medalhão- Ouro fato_Desempenho</vt:lpstr>
      <vt:lpstr>Processo de Analise de Dados</vt:lpstr>
      <vt:lpstr>Números</vt:lpstr>
      <vt:lpstr>PowerPoint Presentation</vt:lpstr>
      <vt:lpstr>Analise Descritiva - o que aconteceu</vt:lpstr>
      <vt:lpstr>Como o GPA está distribuído na base?</vt:lpstr>
      <vt:lpstr>Como o GPA está distribuído na base?</vt:lpstr>
      <vt:lpstr>Quais classes de nota concentram mais alunos? </vt:lpstr>
      <vt:lpstr>O volume de alunos aprovados é maior ou menor do que o de alunos em risco? </vt:lpstr>
      <vt:lpstr>O volume de alunos aprovados é maior ou menor do que o de alunos em risco? </vt:lpstr>
      <vt:lpstr>O volume de alunos aprovados é maior ou menor do que o de alunos em risco? </vt:lpstr>
      <vt:lpstr>Analise Diagnostica – Porque Aconteceu ? </vt:lpstr>
      <vt:lpstr>Analise Diagnostica </vt:lpstr>
      <vt:lpstr>Analise Diagnostica – Tabelas  Analíticas</vt:lpstr>
      <vt:lpstr>Analise Diagnostica – Código dos Gráficos Analíticos</vt:lpstr>
      <vt:lpstr>Analise Diagnostica - Gráficos</vt:lpstr>
      <vt:lpstr>Analise Diagnostica </vt:lpstr>
      <vt:lpstr>Analise Diagnostica – Tabelas  Analíticas</vt:lpstr>
      <vt:lpstr>Analise Diagnostica – Código dos Gráficos Analíticos</vt:lpstr>
      <vt:lpstr>Analise Diagnostica – Gráficos</vt:lpstr>
      <vt:lpstr>Analise Diagnostica</vt:lpstr>
      <vt:lpstr>Analise Diagnostica – Tabelas  Analíticas</vt:lpstr>
      <vt:lpstr>Analise Diagnostica – Código dos Gráficos Analíticos</vt:lpstr>
      <vt:lpstr>Analise Diagnostica – Gráficos</vt:lpstr>
      <vt:lpstr>Conclusão da Analise (Síntese Analítica).</vt:lpstr>
      <vt:lpstr>Conclusão da Analise – Principais Evidências</vt:lpstr>
      <vt:lpstr>Processo de Ciência de dados(Modelagem)</vt:lpstr>
      <vt:lpstr>Engineering</vt:lpstr>
      <vt:lpstr>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Students Performance Dataset Projeto Final</dc:title>
  <dc:creator>Aluno</dc:creator>
  <cp:lastModifiedBy>Victor Rodrigues</cp:lastModifiedBy>
  <cp:revision>16</cp:revision>
  <dcterms:created xsi:type="dcterms:W3CDTF">2026-05-19T00:21:38Z</dcterms:created>
  <dcterms:modified xsi:type="dcterms:W3CDTF">2026-05-19T19:19:05Z</dcterms:modified>
</cp:coreProperties>
</file>